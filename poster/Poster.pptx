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32918400" cy="2468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36EDF88-43FD-4754-9CC8-8D4C725A359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76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25" d="100"/>
          <a:sy n="25" d="100"/>
        </p:scale>
        <p:origin x="1628" y="-20"/>
      </p:cViewPr>
      <p:guideLst>
        <p:guide orient="horz" pos="777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4040507"/>
            <a:ext cx="27980640" cy="859536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2967337"/>
            <a:ext cx="24688800" cy="5960743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5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30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6155062"/>
            <a:ext cx="28392120" cy="10269853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6522072"/>
            <a:ext cx="28392120" cy="5400673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46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6572250"/>
            <a:ext cx="1399032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6572250"/>
            <a:ext cx="1399032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3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314455"/>
            <a:ext cx="28392120" cy="47720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6052187"/>
            <a:ext cx="13926024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9018270"/>
            <a:ext cx="13926024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6052187"/>
            <a:ext cx="13994608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9018270"/>
            <a:ext cx="13994608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16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65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46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645920"/>
            <a:ext cx="10617041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554735"/>
            <a:ext cx="16664940" cy="1754505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7406640"/>
            <a:ext cx="10617041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9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645920"/>
            <a:ext cx="10617041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554735"/>
            <a:ext cx="16664940" cy="1754505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7406640"/>
            <a:ext cx="10617041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4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71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314450"/>
            <a:ext cx="7098030" cy="20922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314450"/>
            <a:ext cx="20882610" cy="20922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6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314455"/>
            <a:ext cx="28392120" cy="477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6572250"/>
            <a:ext cx="28392120" cy="15664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2882865"/>
            <a:ext cx="740664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58CA-9F09-4796-89F9-1EF61D7934F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2882865"/>
            <a:ext cx="1110996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2882865"/>
            <a:ext cx="740664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4DFD1-7768-4DB9-8523-37E9BDA44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9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42D504-32D4-4262-63ED-4D86AC706417}"/>
              </a:ext>
            </a:extLst>
          </p:cNvPr>
          <p:cNvSpPr/>
          <p:nvPr/>
        </p:nvSpPr>
        <p:spPr>
          <a:xfrm>
            <a:off x="188258" y="188258"/>
            <a:ext cx="32541883" cy="24312283"/>
          </a:xfrm>
          <a:prstGeom prst="rect">
            <a:avLst/>
          </a:prstGeom>
          <a:noFill/>
          <a:ln w="396875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701D6-6E4D-C302-EB09-A7A044E36334}"/>
              </a:ext>
            </a:extLst>
          </p:cNvPr>
          <p:cNvSpPr/>
          <p:nvPr/>
        </p:nvSpPr>
        <p:spPr>
          <a:xfrm>
            <a:off x="520699" y="495301"/>
            <a:ext cx="31901615" cy="33909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D901C-B714-1167-04A3-D391A4CB461C}"/>
              </a:ext>
            </a:extLst>
          </p:cNvPr>
          <p:cNvSpPr/>
          <p:nvPr/>
        </p:nvSpPr>
        <p:spPr>
          <a:xfrm>
            <a:off x="520699" y="3984859"/>
            <a:ext cx="10515600" cy="20208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AD057B-F45E-3F33-DAF5-343B4637E1FC}"/>
              </a:ext>
            </a:extLst>
          </p:cNvPr>
          <p:cNvSpPr/>
          <p:nvPr/>
        </p:nvSpPr>
        <p:spPr>
          <a:xfrm>
            <a:off x="11213707" y="3984859"/>
            <a:ext cx="10515600" cy="20208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0B44EA-26EE-7315-5370-FA7D036DFB13}"/>
              </a:ext>
            </a:extLst>
          </p:cNvPr>
          <p:cNvSpPr/>
          <p:nvPr/>
        </p:nvSpPr>
        <p:spPr>
          <a:xfrm>
            <a:off x="21906715" y="4007318"/>
            <a:ext cx="10515600" cy="20208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University of California, San Diego - Wikipedia">
            <a:extLst>
              <a:ext uri="{FF2B5EF4-FFF2-40B4-BE49-F238E27FC236}">
                <a16:creationId xmlns:a16="http://schemas.microsoft.com/office/drawing/2014/main" id="{6C659B24-4259-47DB-8BC8-15ABC6BBC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23" y="667981"/>
            <a:ext cx="3027878" cy="304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University of California, San Diego - Wikipedia">
            <a:extLst>
              <a:ext uri="{FF2B5EF4-FFF2-40B4-BE49-F238E27FC236}">
                <a16:creationId xmlns:a16="http://schemas.microsoft.com/office/drawing/2014/main" id="{8DB43332-0A90-275A-23B6-43F3BD818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999" y="667981"/>
            <a:ext cx="3027878" cy="304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DA8015-4486-3B8D-8BC7-B404F1A8C2C5}"/>
              </a:ext>
            </a:extLst>
          </p:cNvPr>
          <p:cNvSpPr txBox="1"/>
          <p:nvPr/>
        </p:nvSpPr>
        <p:spPr>
          <a:xfrm>
            <a:off x="5105006" y="693992"/>
            <a:ext cx="22733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CNN inference on 2-D Systolic Array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2DDE5-2A9C-DEA8-57F6-554AB293AD5F}"/>
              </a:ext>
            </a:extLst>
          </p:cNvPr>
          <p:cNvSpPr txBox="1"/>
          <p:nvPr/>
        </p:nvSpPr>
        <p:spPr>
          <a:xfrm>
            <a:off x="13563599" y="2076649"/>
            <a:ext cx="579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latin typeface="Monotype Corsiva" panose="03010101010201010101" pitchFamily="66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Clocked 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5A3AF-D1E8-160F-6BA8-A065B51195CA}"/>
              </a:ext>
            </a:extLst>
          </p:cNvPr>
          <p:cNvSpPr txBox="1"/>
          <p:nvPr/>
        </p:nvSpPr>
        <p:spPr>
          <a:xfrm>
            <a:off x="5809090" y="3191635"/>
            <a:ext cx="21324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Ahmet Emre Eser, Ashita Singh, Devansh Gupta, Riyansh Chaturvedi, Rohan </a:t>
            </a:r>
            <a:r>
              <a:rPr lang="en-IN" sz="3200" dirty="0" err="1">
                <a:solidFill>
                  <a:schemeClr val="bg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Nafde</a:t>
            </a:r>
            <a:r>
              <a:rPr lang="en-IN" sz="3200" dirty="0">
                <a:solidFill>
                  <a:schemeClr val="bg2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Shoumik Panandikar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76435C-C500-EA47-6F84-AF765C58CFDC}"/>
              </a:ext>
            </a:extLst>
          </p:cNvPr>
          <p:cNvSpPr txBox="1"/>
          <p:nvPr/>
        </p:nvSpPr>
        <p:spPr>
          <a:xfrm>
            <a:off x="688027" y="4058881"/>
            <a:ext cx="5661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Motivation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D630DC-1B0A-CB91-2711-030D1E23BAC3}"/>
              </a:ext>
            </a:extLst>
          </p:cNvPr>
          <p:cNvSpPr txBox="1"/>
          <p:nvPr/>
        </p:nvSpPr>
        <p:spPr>
          <a:xfrm>
            <a:off x="606760" y="7642948"/>
            <a:ext cx="7159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2D Systolic Array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2BC66-3A3A-4BA7-FE90-7B181212C149}"/>
              </a:ext>
            </a:extLst>
          </p:cNvPr>
          <p:cNvSpPr txBox="1"/>
          <p:nvPr/>
        </p:nvSpPr>
        <p:spPr>
          <a:xfrm>
            <a:off x="688027" y="14060340"/>
            <a:ext cx="9955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VGGNet</a:t>
            </a:r>
            <a:r>
              <a:rPr lang="en-IN" sz="32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Quantization Aware Training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A5AE1-C48F-F169-C22A-D76EECB2B701}"/>
              </a:ext>
            </a:extLst>
          </p:cNvPr>
          <p:cNvSpPr txBox="1"/>
          <p:nvPr/>
        </p:nvSpPr>
        <p:spPr>
          <a:xfrm>
            <a:off x="606760" y="16745982"/>
            <a:ext cx="10343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Mapping on FPGA (Cyclone IV GX)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69C897-49DD-1965-DAAE-583A5582DEC6}"/>
              </a:ext>
            </a:extLst>
          </p:cNvPr>
          <p:cNvSpPr txBox="1"/>
          <p:nvPr/>
        </p:nvSpPr>
        <p:spPr>
          <a:xfrm>
            <a:off x="765544" y="4613606"/>
            <a:ext cx="1014033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This project develops three specialized 2-D systolic array variants: a weight stationary design for efficient data reuse, a SIMD version supporting 2-bit and 4-bit operations, and a hybrid architecture with configurable weight and output stationary modes. Performance optimizations and comprehensive testing ensure robust acceleration across diverse neural network workloads.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999B582-4A51-5050-28A6-C421279B5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070361"/>
              </p:ext>
            </p:extLst>
          </p:nvPr>
        </p:nvGraphicFramePr>
        <p:xfrm>
          <a:off x="765544" y="14802434"/>
          <a:ext cx="9955242" cy="188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6722">
                  <a:extLst>
                    <a:ext uri="{9D8B030D-6E8A-4147-A177-3AD203B41FA5}">
                      <a16:colId xmlns:a16="http://schemas.microsoft.com/office/drawing/2014/main" val="4264941214"/>
                    </a:ext>
                  </a:extLst>
                </a:gridCol>
                <a:gridCol w="2914260">
                  <a:extLst>
                    <a:ext uri="{9D8B030D-6E8A-4147-A177-3AD203B41FA5}">
                      <a16:colId xmlns:a16="http://schemas.microsoft.com/office/drawing/2014/main" val="2384145566"/>
                    </a:ext>
                  </a:extLst>
                </a:gridCol>
                <a:gridCol w="2914260">
                  <a:extLst>
                    <a:ext uri="{9D8B030D-6E8A-4147-A177-3AD203B41FA5}">
                      <a16:colId xmlns:a16="http://schemas.microsoft.com/office/drawing/2014/main" val="2784964112"/>
                    </a:ext>
                  </a:extLst>
                </a:gridCol>
              </a:tblGrid>
              <a:tr h="10408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err="1"/>
                        <a:t>VGGNet</a:t>
                      </a:r>
                      <a:r>
                        <a:rPr lang="en-IN" sz="2800" dirty="0"/>
                        <a:t> 16 (4 bit)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err="1"/>
                        <a:t>V</a:t>
                      </a:r>
                      <a:r>
                        <a:rPr lang="en-IN" sz="2800" dirty="0" err="1"/>
                        <a:t>GGNet</a:t>
                      </a:r>
                      <a:r>
                        <a:rPr lang="en-IN" sz="2800" dirty="0"/>
                        <a:t> 16 (2 bit)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8063754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IN" sz="3600" b="1" dirty="0"/>
                        <a:t>Accuracy (CIFAR 10)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 89.560%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85.360%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645846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33411A1-B3AB-6E5B-FB52-3DBEC1703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873282"/>
              </p:ext>
            </p:extLst>
          </p:nvPr>
        </p:nvGraphicFramePr>
        <p:xfrm>
          <a:off x="765544" y="17345412"/>
          <a:ext cx="9955242" cy="671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621">
                  <a:extLst>
                    <a:ext uri="{9D8B030D-6E8A-4147-A177-3AD203B41FA5}">
                      <a16:colId xmlns:a16="http://schemas.microsoft.com/office/drawing/2014/main" val="3898252685"/>
                    </a:ext>
                  </a:extLst>
                </a:gridCol>
                <a:gridCol w="4977621">
                  <a:extLst>
                    <a:ext uri="{9D8B030D-6E8A-4147-A177-3AD203B41FA5}">
                      <a16:colId xmlns:a16="http://schemas.microsoft.com/office/drawing/2014/main" val="1392641260"/>
                    </a:ext>
                  </a:extLst>
                </a:gridCol>
              </a:tblGrid>
              <a:tr h="10408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err="1"/>
                        <a:t>VGGNet</a:t>
                      </a:r>
                      <a:r>
                        <a:rPr lang="en-IN" sz="3600" dirty="0"/>
                        <a:t> 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196818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IN" sz="3600" b="1" dirty="0"/>
                        <a:t>Total OPs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128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00979952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600" b="1" dirty="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130.34 MHz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264877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600" b="1" dirty="0"/>
                        <a:t>TOPs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0.01668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500793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600" b="1" dirty="0"/>
                        <a:t>Dynamic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31.24 </a:t>
                      </a:r>
                      <a:r>
                        <a:rPr lang="en-IN" sz="3600" dirty="0" err="1"/>
                        <a:t>mW</a:t>
                      </a:r>
                      <a:endParaRPr lang="en-IN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772399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600" b="1" dirty="0"/>
                        <a:t>TOPs/W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0.534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43007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600" b="1" dirty="0"/>
                        <a:t>Total Logic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22,556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051212"/>
                  </a:ext>
                </a:extLst>
              </a:tr>
              <a:tr h="805438">
                <a:tc>
                  <a:txBody>
                    <a:bodyPr/>
                    <a:lstStyle/>
                    <a:p>
                      <a:pPr marL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600" b="1" dirty="0"/>
                        <a:t>Total Registers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12,146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6062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49D937D-A4A0-437B-2852-702F87F6A000}"/>
              </a:ext>
            </a:extLst>
          </p:cNvPr>
          <p:cNvSpPr txBox="1"/>
          <p:nvPr/>
        </p:nvSpPr>
        <p:spPr>
          <a:xfrm>
            <a:off x="11291221" y="9510044"/>
            <a:ext cx="10360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Alpha 1: </a:t>
            </a:r>
            <a:r>
              <a:rPr lang="en-IN" sz="32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Simultaneous Accumulation</a:t>
            </a:r>
            <a:endParaRPr lang="en-IN" sz="3800" b="1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B39159-6A5B-3DE5-8EE3-3F8346B973A1}"/>
              </a:ext>
            </a:extLst>
          </p:cNvPr>
          <p:cNvSpPr txBox="1"/>
          <p:nvPr/>
        </p:nvSpPr>
        <p:spPr>
          <a:xfrm>
            <a:off x="22026517" y="4099118"/>
            <a:ext cx="95161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Alpha 3: </a:t>
            </a:r>
            <a:r>
              <a:rPr lang="en-IN" sz="3200" b="1" dirty="0">
                <a:solidFill>
                  <a:srgbClr val="00B0F0"/>
                </a:solidFill>
                <a:latin typeface="Verdana"/>
                <a:ea typeface="Verdana"/>
              </a:rPr>
              <a:t>Unified Memory</a:t>
            </a:r>
            <a:endParaRPr lang="en-IN" sz="3800" b="1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19F3D4-3472-CED1-54FC-B326A6D12938}"/>
              </a:ext>
            </a:extLst>
          </p:cNvPr>
          <p:cNvSpPr txBox="1"/>
          <p:nvPr/>
        </p:nvSpPr>
        <p:spPr>
          <a:xfrm>
            <a:off x="11357394" y="15384088"/>
            <a:ext cx="98529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Alpha 2: </a:t>
            </a:r>
            <a:r>
              <a:rPr lang="en-IN" sz="32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Functional Verification</a:t>
            </a:r>
            <a:endParaRPr lang="en-IN" sz="3800" b="1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742AC4-9210-605A-6252-60FA1EED280B}"/>
              </a:ext>
            </a:extLst>
          </p:cNvPr>
          <p:cNvSpPr txBox="1"/>
          <p:nvPr/>
        </p:nvSpPr>
        <p:spPr>
          <a:xfrm>
            <a:off x="11291223" y="4038096"/>
            <a:ext cx="10360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Base Versions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8E4C8-53D9-5B03-0904-D7F5E6570CFC}"/>
              </a:ext>
            </a:extLst>
          </p:cNvPr>
          <p:cNvSpPr txBox="1"/>
          <p:nvPr/>
        </p:nvSpPr>
        <p:spPr>
          <a:xfrm>
            <a:off x="11281144" y="4613606"/>
            <a:ext cx="10140337" cy="48320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SzPct val="150000"/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Vanilla (Weight Stationary):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baseline architecture implements the fundamental Weight Stationary (WS) dataflow, primarily optimizing for weight reuse efficiency.</a:t>
            </a:r>
          </a:p>
          <a:p>
            <a:pPr marL="457200" indent="-457200" algn="just">
              <a:buSzPct val="150000"/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SIMD Enhanced (2/4-bit Precision):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Features a Single Instruction, Multiple Data (SIMD) data path to support 2-bit and 4-bit input precision, increasing throughput for quantized neural network operations.</a:t>
            </a:r>
          </a:p>
          <a:p>
            <a:pPr marL="457200" indent="-457200" algn="just">
              <a:buSzPct val="150000"/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Unified Stationary (WS &amp; OS):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Implements a flexible structure supporting dynamic switching between Weight Stationary (WS) and Output Stationary (OS) dataflows, aiming for applicability across various computation patterns.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7AB690E4-2A93-8A00-D7E6-0E7D467CF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672713" y="16206704"/>
            <a:ext cx="9173393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527830F-F5E8-1741-6579-94CBEBCBA829}"/>
              </a:ext>
            </a:extLst>
          </p:cNvPr>
          <p:cNvSpPr txBox="1"/>
          <p:nvPr/>
        </p:nvSpPr>
        <p:spPr>
          <a:xfrm>
            <a:off x="11236631" y="19752752"/>
            <a:ext cx="1014033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SzPct val="150000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To ensure the integrity of our systolic array, we employ a rigorous hardware-software verification methodology.</a:t>
            </a:r>
          </a:p>
          <a:p>
            <a:pPr algn="just">
              <a:spcBef>
                <a:spcPts val="1200"/>
              </a:spcBef>
              <a:buSzPct val="150000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We utilize random stimulus testing where the array is fed random numerical inputs (weights and feature maps) spanning the full supported bit precision. A Golden Reference Model concurrently calculates the expected output. The hardware result is then compared against the Golden Result to confirm functional correctness across all operational modes.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CA31FB8-FBD2-5F21-2A01-CFD4832BD90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2119757" y="5201204"/>
            <a:ext cx="5246280" cy="59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1">
            <a:extLst>
              <a:ext uri="{FF2B5EF4-FFF2-40B4-BE49-F238E27FC236}">
                <a16:creationId xmlns:a16="http://schemas.microsoft.com/office/drawing/2014/main" id="{2B4420BB-4177-4974-D1B8-2C9CEF9B46F4}"/>
              </a:ext>
            </a:extLst>
          </p:cNvPr>
          <p:cNvSpPr/>
          <p:nvPr/>
        </p:nvSpPr>
        <p:spPr>
          <a:xfrm>
            <a:off x="27594637" y="4715204"/>
            <a:ext cx="4761360" cy="59745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150000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Concept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: In Output Stationary mode, the Partial Sum Memory (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pmem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) is bandwidth-heavy during accumulation but often idle during the initial weight loading phase.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150000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Optimization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: We reuse the existing high-bandwidth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pmem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(128-bit) to store weights instead of adding a separate, dedicated Kernel Memory (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kmem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).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2">
            <a:extLst>
              <a:ext uri="{FF2B5EF4-FFF2-40B4-BE49-F238E27FC236}">
                <a16:creationId xmlns:a16="http://schemas.microsoft.com/office/drawing/2014/main" id="{A6421D48-DE36-D2BB-8E07-3AD71DF25434}"/>
              </a:ext>
            </a:extLst>
          </p:cNvPr>
          <p:cNvSpPr/>
          <p:nvPr/>
        </p:nvSpPr>
        <p:spPr>
          <a:xfrm>
            <a:off x="22026517" y="11586884"/>
            <a:ext cx="10140120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150000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Benefit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: This removes the need for an additional 32-bit SRAM bank entirely. Since SRAM blocks dominate the silicon area of a core, eliminating one significantly reduces the total hardware footprint and static power leakage.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AutoShape 13">
            <a:extLst>
              <a:ext uri="{FF2B5EF4-FFF2-40B4-BE49-F238E27FC236}">
                <a16:creationId xmlns:a16="http://schemas.microsoft.com/office/drawing/2014/main" id="{D63635C8-2054-2634-3A78-80434453A3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06800" y="12192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9" name="Picture 15">
            <a:extLst>
              <a:ext uri="{FF2B5EF4-FFF2-40B4-BE49-F238E27FC236}">
                <a16:creationId xmlns:a16="http://schemas.microsoft.com/office/drawing/2014/main" id="{0C15B32C-6A79-E6FE-94E0-D69A854F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2132" y="8302634"/>
            <a:ext cx="9347032" cy="572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25803696-AB9A-72DF-6C54-2E52D6E88AA7}"/>
              </a:ext>
            </a:extLst>
          </p:cNvPr>
          <p:cNvSpPr txBox="1"/>
          <p:nvPr/>
        </p:nvSpPr>
        <p:spPr>
          <a:xfrm>
            <a:off x="21906715" y="13421821"/>
            <a:ext cx="1122344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Alpha 4: </a:t>
            </a:r>
            <a:r>
              <a:rPr lang="en-IN" sz="3200" b="1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Circuit Level Power Optimizations</a:t>
            </a:r>
            <a:endParaRPr lang="en-IN" sz="3700" b="1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A7427413-A51C-7392-7861-9C4839BA2D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320" y="14537025"/>
            <a:ext cx="5514010" cy="3767491"/>
          </a:xfrm>
          <a:prstGeom prst="rect">
            <a:avLst/>
          </a:prstGeom>
        </p:spPr>
      </p:pic>
      <p:pic>
        <p:nvPicPr>
          <p:cNvPr id="1032" name="Picture 1031" descr="A diagram of a computer&#10;&#10;Description automatically generated">
            <a:extLst>
              <a:ext uri="{FF2B5EF4-FFF2-40B4-BE49-F238E27FC236}">
                <a16:creationId xmlns:a16="http://schemas.microsoft.com/office/drawing/2014/main" id="{135C618D-259D-F3A3-5F1B-F6129477EB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6013" y="19362328"/>
            <a:ext cx="5556093" cy="3816877"/>
          </a:xfrm>
          <a:prstGeom prst="rect">
            <a:avLst/>
          </a:prstGeom>
        </p:spPr>
      </p:pic>
      <p:sp>
        <p:nvSpPr>
          <p:cNvPr id="1034" name="TextBox 1">
            <a:extLst>
              <a:ext uri="{FF2B5EF4-FFF2-40B4-BE49-F238E27FC236}">
                <a16:creationId xmlns:a16="http://schemas.microsoft.com/office/drawing/2014/main" id="{F2CE12F6-EF62-BE7E-EDE4-D3DFC14275C1}"/>
              </a:ext>
            </a:extLst>
          </p:cNvPr>
          <p:cNvSpPr/>
          <p:nvPr/>
        </p:nvSpPr>
        <p:spPr>
          <a:xfrm>
            <a:off x="27594637" y="14060340"/>
            <a:ext cx="4803064" cy="56924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150000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Gating: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When either the weight or activation is zero, the output simplifies to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psum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making the MAC computation unnecessary. The MAC unit is bypassed using a MUX that forwards the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psum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the output, while all inputs to the MAC are forced to zero. This prevents unnecessary switching activity within the MAC unit, saving dynamic power</a:t>
            </a:r>
            <a:endParaRPr lang="en-US" sz="2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Box 1">
            <a:extLst>
              <a:ext uri="{FF2B5EF4-FFF2-40B4-BE49-F238E27FC236}">
                <a16:creationId xmlns:a16="http://schemas.microsoft.com/office/drawing/2014/main" id="{18E5C18A-2A38-895C-0D36-F1F058218141}"/>
              </a:ext>
            </a:extLst>
          </p:cNvPr>
          <p:cNvSpPr/>
          <p:nvPr/>
        </p:nvSpPr>
        <p:spPr>
          <a:xfrm>
            <a:off x="27594637" y="19752752"/>
            <a:ext cx="4761360" cy="43997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/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Clock gating: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Weight and load enable registers hold their values stable for long periods. When a register's load enable is inactive, clock gating prevents the flip-flops from toggling, avoiding the charging and discharging of internal capacitances, hence saving dynamic power.</a:t>
            </a:r>
            <a:endParaRPr lang="en-US" sz="2800" b="0" dirty="0">
              <a:effectLst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65657807-D4AE-CF83-0FEA-63ED2DC19BD4}"/>
              </a:ext>
            </a:extLst>
          </p:cNvPr>
          <p:cNvSpPr txBox="1"/>
          <p:nvPr/>
        </p:nvSpPr>
        <p:spPr>
          <a:xfrm>
            <a:off x="23804338" y="183172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gating circuit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13E8A591-CE94-212C-2EE1-83CA96E34042}"/>
              </a:ext>
            </a:extLst>
          </p:cNvPr>
          <p:cNvSpPr txBox="1"/>
          <p:nvPr/>
        </p:nvSpPr>
        <p:spPr>
          <a:xfrm>
            <a:off x="23863376" y="23290343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Clock gating circuit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2AE4982-27E0-FF6B-4B86-D0E0E919D315}"/>
              </a:ext>
            </a:extLst>
          </p:cNvPr>
          <p:cNvSpPr txBox="1"/>
          <p:nvPr/>
        </p:nvSpPr>
        <p:spPr>
          <a:xfrm>
            <a:off x="16259410" y="10230319"/>
            <a:ext cx="51828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We've implemented in-place accumulation through the SFP pipeline. Each SFP lane holds a dedicated accumulator register that stores the running sum of partial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psums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kij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from the MAC array via OFIFO, accumulating them internally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E0418188-F785-DB96-9B2A-4EBAC07B475E}"/>
              </a:ext>
            </a:extLst>
          </p:cNvPr>
          <p:cNvSpPr txBox="1"/>
          <p:nvPr/>
        </p:nvSpPr>
        <p:spPr>
          <a:xfrm>
            <a:off x="11403821" y="13768697"/>
            <a:ext cx="101107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Only the final 8×8 block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psum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written to SRAM, reducing memory traffic and eliminating intermediate writes. This achieves in-place accumulation within the hardware pipeline.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3" name="Picture 19">
            <a:extLst>
              <a:ext uri="{FF2B5EF4-FFF2-40B4-BE49-F238E27FC236}">
                <a16:creationId xmlns:a16="http://schemas.microsoft.com/office/drawing/2014/main" id="{B1644477-A38C-7171-C3C5-860F1B7D5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399" y="10563609"/>
            <a:ext cx="4449687" cy="272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459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1023</TotalTime>
  <Words>613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Courier New</vt:lpstr>
      <vt:lpstr>Monotype Corsiva</vt:lpstr>
      <vt:lpstr>Segoe UI Black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Shoumik Panandikar</dc:creator>
  <cp:lastModifiedBy>Shoumik Panandikar</cp:lastModifiedBy>
  <cp:revision>17</cp:revision>
  <cp:lastPrinted>2025-12-01T23:27:02Z</cp:lastPrinted>
  <dcterms:created xsi:type="dcterms:W3CDTF">2025-12-01T07:10:53Z</dcterms:created>
  <dcterms:modified xsi:type="dcterms:W3CDTF">2025-12-02T00:14:34Z</dcterms:modified>
</cp:coreProperties>
</file>